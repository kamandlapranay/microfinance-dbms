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JetBrains Mono"/>
      <ns0:italic ns1:id="rIdFont21"/>
      <ns0:bold ns1:id="rIdFont22"/>
      <ns0:regular ns1:id="rIdFont23"/>
    </ns0:embeddedFont>
    <ns0:embeddedFont>
      <ns0:font typeface="Space Grotesk"/>
      <ns0:bold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ebb49292-5f5c-4759-a5d1-b06e9185266c.fntdata" /><ns0:Relationship Id="rIdFont20" Type="http://schemas.openxmlformats.org/officeDocument/2006/relationships/font" Target="fonts/e2f38d0f-3035-4267-8c42-f44fc33e2ea8.fntdata" /><ns0:Relationship Id="rIdFont21" Type="http://schemas.openxmlformats.org/officeDocument/2006/relationships/font" Target="fonts/20e3fdd1-5705-428a-af45-c0eee3453b6b.fntdata" /><ns0:Relationship Id="rIdFont22" Type="http://schemas.openxmlformats.org/officeDocument/2006/relationships/font" Target="fonts/cbc01111-9b5a-477d-adf5-c77bff81c3ea.fntdata" /><ns0:Relationship Id="rIdFont23" Type="http://schemas.openxmlformats.org/officeDocument/2006/relationships/font" Target="fonts/45c67d9c-ce1f-4305-8a23-4a9b29a96cf2.fntdata" /><ns0:Relationship Id="rIdFont24" Type="http://schemas.openxmlformats.org/officeDocument/2006/relationships/font" Target="fonts/f864f536-e544-4e3f-ba9c-dd7fb1fc8d1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18558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418558"/>
            <a:ext cx="10972800" cy="9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10791"/>
            <a:ext cx="20002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267991"/>
            <a:ext cx="10601325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F8FAFC"/>
                </a:solidFill>
                <a:latin typeface="Space Grotesk"/>
              </a:rPr>
              <a:t>Design &amp; Implementation of a DBMS for Microfinance Loan &amp; Repayment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66058"/>
            <a:ext cx="819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Normalized 3NF relational schema, transactional integrity constraints, automated trigger logic, and SQL analytics for financial risk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1825079"/>
            <a:ext cx="4012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RELATIONAL DATABASE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56683"/>
            <a:ext cx="2405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FOCUS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56708"/>
            <a:ext cx="2405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Inter"/>
              </a:rPr>
              <a:t>3NF Schema &amp; SQL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8450" y="4656683"/>
            <a:ext cx="2547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INTEGRITY GUARANTEE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8450" y="4856708"/>
            <a:ext cx="2547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Inter"/>
              </a:rPr>
              <a:t>ACID Compliance &amp;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0" y="4656683"/>
            <a:ext cx="2607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ANALYTICS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600" y="4856708"/>
            <a:ext cx="2607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Inter"/>
              </a:rPr>
              <a:t>PAR Risk &amp; Portfolio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900" y="847725"/>
            <a:ext cx="11430000" cy="5715000"/>
          </a:xfrm>
          <a:prstGeom prst="roundRect">
            <a:avLst>
              <a:gd name="adj" fmla="val 1333"/>
            </a:avLst>
          </a:prstGeom>
          <a:solidFill>
            <a:srgbClr val="112240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62875" y="347662"/>
            <a:ext cx="4086225" cy="266700"/>
          </a:xfrm>
          <a:prstGeom prst="roundRect">
            <a:avLst>
              <a:gd name="adj" fmla="val 21428"/>
            </a:avLst>
          </a:prstGeom>
          <a:solidFill>
            <a:srgbClr val="112240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433387"/>
            <a:ext cx="104775" cy="104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433387"/>
            <a:ext cx="133350" cy="104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375" y="433387"/>
            <a:ext cx="76200" cy="104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" y="228600"/>
            <a:ext cx="514350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Inter"/>
              </a:rPr>
              <a:t>Relational Schema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438150"/>
            <a:ext cx="662582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Space Grotesk"/>
              </a:rPr>
              <a:t>Complete Microfinance ER Diagram Flowchart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700" y="414337"/>
            <a:ext cx="1295400" cy="13335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BD5E1"/>
                </a:solidFill>
                <a:latin typeface="Inter"/>
              </a:rPr>
              <a:t>PK = Primary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0" y="414337"/>
            <a:ext cx="1323975" cy="13335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BD5E1"/>
                </a:solidFill>
                <a:latin typeface="Inter"/>
              </a:rPr>
              <a:t>FK = Foreign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9375" y="414337"/>
            <a:ext cx="1857375" cy="1333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BD5E1"/>
                </a:solidFill>
                <a:latin typeface="Inter"/>
              </a:rPr>
              <a:t>1:1 / 1:N Flow Relationships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" y="857250"/>
            <a:ext cx="11410950" cy="56959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543300" y="1552575"/>
            <a:ext cx="685800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14550" y="2457450"/>
            <a:ext cx="666750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43425" y="2809875"/>
            <a:ext cx="514350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81175" y="3429000"/>
            <a:ext cx="638175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3286125"/>
            <a:ext cx="657225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5800" y="3409950"/>
            <a:ext cx="485775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95425" y="4476750"/>
            <a:ext cx="819150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95675" y="4476750"/>
            <a:ext cx="771525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28925" y="5543550"/>
            <a:ext cx="847725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57675" y="5543550"/>
            <a:ext cx="647700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95925" y="4953000"/>
            <a:ext cx="723900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24550" y="5524500"/>
            <a:ext cx="800100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3300" y="5543550"/>
            <a:ext cx="1123950" cy="142875"/>
          </a:xfrm>
          <a:prstGeom prst="roundRect">
            <a:avLst>
              <a:gd name="adj" fmla="val 20000"/>
            </a:avLst>
          </a:prstGeom>
          <a:solidFill>
            <a:srgbClr val="0A192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1400" y="1562100"/>
            <a:ext cx="7048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manages (1:N)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2650" y="2466975"/>
            <a:ext cx="685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contains (1:N)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525" y="2819400"/>
            <a:ext cx="5334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38BDF8"/>
                </a:solidFill>
                <a:latin typeface="Inter"/>
              </a:rPr>
              <a:t>holds (1:1)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9275" y="3438525"/>
            <a:ext cx="6572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submits (1:N)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2900" y="3295650"/>
            <a:ext cx="6762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governs (1:N)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3900" y="3419475"/>
            <a:ext cx="5048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logs (1:N)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3525" y="4486275"/>
            <a:ext cx="8382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evaluated_by (1:1)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3775" y="4486275"/>
            <a:ext cx="7905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converts_to (1:1)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7025" y="5553075"/>
            <a:ext cx="8667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disbursed_via (1:1)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5775" y="5553075"/>
            <a:ext cx="6667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receives (1:N)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4025" y="4962525"/>
            <a:ext cx="742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generates (1:N)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2650" y="5534025"/>
            <a:ext cx="819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CBD5E1"/>
                </a:solidFill>
                <a:latin typeface="Inter"/>
              </a:rPr>
              <a:t>satisfied_by (1:N)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1400" y="5553075"/>
            <a:ext cx="11430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F43F5E"/>
                </a:solidFill>
                <a:latin typeface="Inter"/>
              </a:rPr>
              <a:t>triggers_if_overdue (1:N)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38425" y="933450"/>
            <a:ext cx="1714500" cy="800100"/>
          </a:xfrm>
          <a:prstGeom prst="roundRect">
            <a:avLst>
              <a:gd name="adj" fmla="val 7142"/>
            </a:avLst>
          </a:prstGeom>
          <a:solidFill>
            <a:srgbClr val="0F172A"/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638425" y="1762125"/>
            <a:ext cx="1714500" cy="800100"/>
          </a:xfrm>
          <a:prstGeom prst="roundRect">
            <a:avLst>
              <a:gd name="adj" fmla="val 7142"/>
            </a:avLst>
          </a:prstGeom>
          <a:solidFill>
            <a:srgbClr val="0F172A"/>
          </a:solidFill>
          <a:ln w="952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8175" y="2619375"/>
            <a:ext cx="1714500" cy="928687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10175" y="2619375"/>
            <a:ext cx="1714500" cy="800100"/>
          </a:xfrm>
          <a:prstGeom prst="roundRect">
            <a:avLst>
              <a:gd name="adj" fmla="val 7142"/>
            </a:avLst>
          </a:prstGeom>
          <a:solidFill>
            <a:srgbClr val="0F172A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00925" y="2619375"/>
            <a:ext cx="1714500" cy="800100"/>
          </a:xfrm>
          <a:prstGeom prst="roundRect">
            <a:avLst>
              <a:gd name="adj" fmla="val 7142"/>
            </a:avLst>
          </a:prstGeom>
          <a:solidFill>
            <a:srgbClr val="0F172A"/>
          </a:solidFill>
          <a:ln w="952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066925" y="3667125"/>
            <a:ext cx="1714500" cy="928687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400925" y="3667125"/>
            <a:ext cx="1714500" cy="928687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2925" y="4714875"/>
            <a:ext cx="1619250" cy="928687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305175" y="4714875"/>
            <a:ext cx="1619250" cy="928687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29425" y="4714875"/>
            <a:ext cx="1619250" cy="1057275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9525">
            <a:solidFill>
              <a:srgbClr val="84C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495425" y="5762625"/>
            <a:ext cx="1714500" cy="928687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971925" y="5762625"/>
            <a:ext cx="1714500" cy="928687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734175" y="5762625"/>
            <a:ext cx="1714500" cy="928687"/>
          </a:xfrm>
          <a:prstGeom prst="roundRect">
            <a:avLst>
              <a:gd name="adj" fmla="val 6153"/>
            </a:avLst>
          </a:prstGeom>
          <a:solidFill>
            <a:srgbClr val="0F172A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47950" y="942975"/>
            <a:ext cx="1695450" cy="190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47950" y="1771650"/>
            <a:ext cx="1695450" cy="190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7700" y="2628900"/>
            <a:ext cx="1695450" cy="190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19700" y="2628900"/>
            <a:ext cx="1695450" cy="1905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10450" y="2628900"/>
            <a:ext cx="1695450" cy="190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76450" y="3676650"/>
            <a:ext cx="1695450" cy="190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10450" y="3676650"/>
            <a:ext cx="1695450" cy="1905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2450" y="4724400"/>
            <a:ext cx="1600200" cy="190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14700" y="4724400"/>
            <a:ext cx="1600200" cy="1905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838950" y="4724400"/>
            <a:ext cx="1600200" cy="1905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04950" y="5772150"/>
            <a:ext cx="1695450" cy="1905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81450" y="5772150"/>
            <a:ext cx="1695450" cy="190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43700" y="5772150"/>
            <a:ext cx="1695450" cy="190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1950" y="985837"/>
            <a:ext cx="95250" cy="104775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3850" y="1814512"/>
            <a:ext cx="133350" cy="104775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2650" y="2671762"/>
            <a:ext cx="114300" cy="104775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4175" y="2671762"/>
            <a:ext cx="104775" cy="104775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2671762"/>
            <a:ext cx="114300" cy="104775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1400" y="3719512"/>
            <a:ext cx="114300" cy="104775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4925" y="3719512"/>
            <a:ext cx="104775" cy="104775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00250" y="4767262"/>
            <a:ext cx="76200" cy="104775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4400" y="4767262"/>
            <a:ext cx="114300" cy="104775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7700" y="4767262"/>
            <a:ext cx="95250" cy="104775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90850" y="5815012"/>
            <a:ext cx="133350" cy="104775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24500" y="5815012"/>
            <a:ext cx="76200" cy="104775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8175" y="5815012"/>
            <a:ext cx="104775" cy="104775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2724150" y="971550"/>
            <a:ext cx="11144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FIELD_OFFICERS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24150" y="117157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C084FC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officer_id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24150" y="130016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C084FC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full_name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24150" y="142875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C084FC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phone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24150" y="155733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C084FC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assigned_zone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24150" y="1800225"/>
            <a:ext cx="71437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8FAFC"/>
                </a:solidFill>
                <a:latin typeface="Inter"/>
              </a:rPr>
              <a:t>GROUPS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24150" y="200025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2DD4BF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group_id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24150" y="212883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2DD4BF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officer_id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24150" y="225742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2DD4BF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group_name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24150" y="238601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2DD4BF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meeting_day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3900" y="2657475"/>
            <a:ext cx="7239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8FAFC"/>
                </a:solidFill>
                <a:latin typeface="Inter"/>
              </a:rPr>
              <a:t>CLIENTS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3900" y="285750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923C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client_id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3900" y="298608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923C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group_id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3900" y="311467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923C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national_id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3900" y="324326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923C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full_name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3900" y="337185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923C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kyc_status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95900" y="2657475"/>
            <a:ext cx="11906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LOAN_PRODUCTS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95900" y="285750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78BFA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product_id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95900" y="298608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78BFA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product_name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95900" y="311467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78BFA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interest_rate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95900" y="324326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78BFA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duration_months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86650" y="2657475"/>
            <a:ext cx="13811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8FAFC"/>
                </a:solidFill>
                <a:latin typeface="Inter"/>
              </a:rPr>
              <a:t>SAVINGS_ACCOUNTS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86650" y="285750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22D3EE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account_id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86650" y="298608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22D3EE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client_id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86650" y="311467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22D3EE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current_balance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86650" y="324326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22D3EE"/>
                </a:solidFill>
                <a:latin typeface="JetBrains Mono"/>
              </a:rPr>
              <a:t>date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opened_date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52650" y="3705225"/>
            <a:ext cx="10382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8FAFC"/>
                </a:solidFill>
                <a:latin typeface="Inter"/>
              </a:rPr>
              <a:t>APPLICATIONS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52650" y="390525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4ADE80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application_id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52650" y="403383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4ADE80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client_id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52650" y="416242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4ADE80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product_id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52650" y="429101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4ADE80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requested_amount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52650" y="441960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4ADE80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status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86650" y="3705225"/>
            <a:ext cx="11049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TRANSACTIONS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86650" y="390525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60A5FA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transaction_id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86650" y="403383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60A5FA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account_id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86650" y="416242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60A5FA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transaction_type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86650" y="429101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60A5FA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amount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86650" y="441960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60A5FA"/>
                </a:solidFill>
                <a:latin typeface="JetBrains Mono"/>
              </a:rPr>
              <a:t>date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transaction_date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8650" y="4752975"/>
            <a:ext cx="90487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APPROVALS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8650" y="4953000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7185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approval_id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8650" y="5081587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7185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application_id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8650" y="5210175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7185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officer_id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8650" y="5338762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7185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decision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8650" y="5467350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B7185"/>
                </a:solidFill>
                <a:latin typeface="JetBrains Mono"/>
              </a:rPr>
              <a:t>date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approval_date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90900" y="4752975"/>
            <a:ext cx="63817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Inter"/>
              </a:rPr>
              <a:t>LOANS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90900" y="4953000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DE047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loan_id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90900" y="5081587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DE047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application_id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90900" y="5210175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DE047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principal_amount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90900" y="5338762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DE047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interest_rate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90900" y="5467350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DE047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status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915150" y="4752975"/>
            <a:ext cx="9144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Inter"/>
              </a:rPr>
              <a:t>SCHEDULES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15150" y="4953000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3E635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schedule_id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915150" y="5081587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3E635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loan_id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915150" y="5210175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3E635"/>
                </a:solidFill>
                <a:latin typeface="JetBrains Mono"/>
              </a:rPr>
              <a:t>date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due_date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915150" y="5338762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3E635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principal_due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915150" y="5467350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3E635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interest_due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915150" y="5595937"/>
            <a:ext cx="1809750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A3E635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status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81150" y="5800725"/>
            <a:ext cx="117157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DISBURSEMENTS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581150" y="600075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818CF8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disbursement_id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581150" y="612933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818CF8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loan_id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581150" y="625792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818CF8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disbursed_amount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581150" y="638651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818CF8"/>
                </a:solidFill>
                <a:latin typeface="JetBrains Mono"/>
              </a:rPr>
              <a:t>date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disbursement_date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581150" y="651510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818CF8"/>
                </a:solidFill>
                <a:latin typeface="JetBrains Mono"/>
              </a:rPr>
              <a:t>string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payment_method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057650" y="5800725"/>
            <a:ext cx="9906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REPAYMENTS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057650" y="600075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repayment_id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057650" y="612933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loan_id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057650" y="625792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schedule_id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57650" y="638651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8BDF8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amount_paid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057650" y="651510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38BDF8"/>
                </a:solidFill>
                <a:latin typeface="JetBrains Mono"/>
              </a:rPr>
              <a:t>date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payment_date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819900" y="5800725"/>
            <a:ext cx="8477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Inter"/>
              </a:rPr>
              <a:t>PENALTIES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819900" y="600075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87171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penalty_id </a:t>
            </a:r>
            <a:r>
              <a:rPr b="1" sz="675" i="0" u="none">
                <a:solidFill>
                  <a:srgbClr val="FBBF24"/>
                </a:solidFill>
                <a:latin typeface="JetBrains Mono"/>
              </a:rPr>
              <a:t>PK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819900" y="6129337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87171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loan_id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819900" y="6257925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87171"/>
                </a:solidFill>
                <a:latin typeface="JetBrains Mono"/>
              </a:rPr>
              <a:t>int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schedule_id </a:t>
            </a:r>
            <a:r>
              <a:rPr b="1" sz="675" i="0" u="none">
                <a:solidFill>
                  <a:srgbClr val="38BDF8"/>
                </a:solidFill>
                <a:latin typeface="JetBrains Mono"/>
              </a:rPr>
              <a:t>FK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819900" y="6386512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87171"/>
                </a:solidFill>
                <a:latin typeface="JetBrains Mono"/>
              </a:rPr>
              <a:t>decimal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penalty_amount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819900" y="6515100"/>
            <a:ext cx="1928812" cy="1285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F87171"/>
                </a:solidFill>
                <a:latin typeface="JetBrains Mono"/>
              </a:rPr>
              <a:t>boolean</a:t>
            </a:r>
            <a:r>
              <a:rPr b="0" sz="750" i="0" u="none">
                <a:solidFill>
                  <a:srgbClr val="E2E8F0"/>
                </a:solidFill>
                <a:latin typeface="JetBrains Mono"/>
              </a:rPr>
              <a:t> is_paid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248275"/>
            <a:ext cx="10972800" cy="1152525"/>
          </a:xfrm>
          <a:prstGeom prst="roundRect">
            <a:avLst>
              <a:gd name="adj" fmla="val 6611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43162"/>
            <a:ext cx="3505200" cy="1466850"/>
          </a:xfrm>
          <a:prstGeom prst="roundRect">
            <a:avLst>
              <a:gd name="adj" fmla="val 5194"/>
            </a:avLst>
          </a:prstGeom>
          <a:solidFill>
            <a:srgbClr val="112240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443162"/>
            <a:ext cx="3505200" cy="1466850"/>
          </a:xfrm>
          <a:prstGeom prst="roundRect">
            <a:avLst>
              <a:gd name="adj" fmla="val 5194"/>
            </a:avLst>
          </a:prstGeom>
          <a:solidFill>
            <a:srgbClr val="112240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343150"/>
            <a:ext cx="3505200" cy="1666875"/>
          </a:xfrm>
          <a:prstGeom prst="roundRect">
            <a:avLst>
              <a:gd name="adj" fmla="val 4571"/>
            </a:avLst>
          </a:prstGeom>
          <a:solidFill>
            <a:srgbClr val="112240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Schema Rigor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Functional Dependencies &amp; 3NF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429250"/>
            <a:ext cx="11344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Key Functional Dependencies (FDs):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5657850"/>
            <a:ext cx="11344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JetBrains Mono"/>
              </a:rPr>
              <a:t>FD1: loan_id → client_id, product_id, principal, status, approval_date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5857875"/>
            <a:ext cx="11344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JetBrains Mono"/>
              </a:rPr>
              <a:t>FD2: product_id → min_principal, max_principal, interest_rate, max_tenure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6057900"/>
            <a:ext cx="11344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JetBrains Mono"/>
              </a:rPr>
              <a:t>FD3: (loan_id, installment_no) → due_date, principal_due, interest_due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681287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1NF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995612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Atomic attribute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271837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Eliminated repeating payment schedules into standalone schedule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2681287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2NF Decomposition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2995612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Zero partial dependencies.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271837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Separated Client personal attributes from Loan and Group associations.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2581275"/>
            <a:ext cx="387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3NF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2895600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Zero transitive dependencies.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3171825"/>
            <a:ext cx="3124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Extracted Loan Product caps ($FD: Product \rightarrow MaxAmount$) into LOAN_PRODUCT.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333500"/>
          <a:ext cx="10972797" cy="25717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40681"/>
                <a:gridCol w="1756469"/>
                <a:gridCol w="1440953"/>
                <a:gridCol w="2621458"/>
                <a:gridCol w="3513236"/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Data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Keys / Constraints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Business Meaning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LOAN_PRODUCT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JetBrains Mono"/>
                        </a:rPr>
                        <a:t>max_amount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DECIMAL(12,2)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NOT NULL, CHECK &gt; 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Upper limit allowed per borrowing product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LOAN_ACCOUNT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JetBrains Mono"/>
                        </a:rPr>
                        <a:t>approved_amount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DECIMAL(12,2)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CHECK ≤ product.max_amount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Sanctioned principal amount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LOAN_ACCOUNT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JetBrains Mono"/>
                        </a:rPr>
                        <a:t>disbursed_date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CHECK ≥ approval_date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Date cash was disbursed to client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SAVINGS_ACC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JetBrains Mono"/>
                        </a:rPr>
                        <a:t>balance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DECIMAL(12,2)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CHECK ≥ 0.2 * loan.amount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20% mandatory collateral deposit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224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8BDF8"/>
                          </a:solidFill>
                          <a:latin typeface="Inter"/>
                        </a:rPr>
                        <a:t>REPAYMENT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JetBrains Mono"/>
                        </a:rPr>
                        <a:t>amount_paid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DECIMAL(12,2)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Inter"/>
                        </a:rPr>
                        <a:t>CHECK ≤ outstanding_bal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Prevents overpayment transaction excess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Data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Core Relational Specifications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19200"/>
            <a:ext cx="10972800" cy="5181600"/>
          </a:xfrm>
          <a:prstGeom prst="roundRect">
            <a:avLst>
              <a:gd name="adj" fmla="val 1470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Database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390650"/>
            <a:ext cx="10648950" cy="483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F43F5E"/>
                </a:solidFill>
                <a:latin typeface="JetBrains Mono"/>
              </a:rPr>
              <a:t>CREATE TABLE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loan_product ( product_id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INT PRIMARY KEY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product_name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VARCHAR(50) NOT NULL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max_limit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DECIMAL(12,2) NOT NULL CHECK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(max_limit &gt; 0) );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CREATE TABLE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loan_account ( loan_id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INT PRIMARY KEY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client_id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INT REFERENCES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client(client_id), product_id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INT REFERENCES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loan_product(product_id), approved_amount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DECIMAL(12,2) NOT NULL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approval_date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DATE NOT NULL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disbursement_date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DATE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outstanding_balance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DECIMAL(12,2) NOT NULL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status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VARCHAR(20) CHECK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(status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IN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(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'APPLIED'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'APPROVED'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'DISBURSED'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'CLOSED'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)),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CONSTRAINT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chk_approval_before_disburse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CHECK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(disbursement_date &gt;= approval_date) 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DDL Scripts &amp; Business Integrity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19200"/>
            <a:ext cx="10972800" cy="5181600"/>
          </a:xfrm>
          <a:prstGeom prst="roundRect">
            <a:avLst>
              <a:gd name="adj" fmla="val 1470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Procedural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390650"/>
            <a:ext cx="10648950" cy="483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64748B"/>
                </a:solidFill>
                <a:latin typeface="JetBrains Mono"/>
              </a:rPr>
              <a:t>-- Trigger enforcement: Approved amount within Product Limit &amp; Cash Collateral check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CREATE OR REPLACE FUNCTION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verify_loan_disbursement()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RETURNS TRIGGER 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$$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DECLARE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v_max_limit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DECIMAL(12,2)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v_savings_bal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DECIMAL(12,2)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BEGIN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SELECT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max_limit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INTO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v_max_limit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loan_product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WHERE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product_id = NEW.product_id;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IF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NEW.approved_amount &gt; v_max_limit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THEN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RAISE EXCEPTION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'Approved amount exceeds product maximum cap'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END IF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SELECT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current_balance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INTO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v_savings_bal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savings_account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WHERE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client_id = NEW.client_id;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IF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v_savings_bal &lt; (NEW.approved_amount * 0.20)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THEN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RAISE EXCEPTION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'Client lacks required 20%% mandatory savings collateral'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END IF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NEW;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END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$$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LANGUAGE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plpgsql;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Triggers: Savings &amp; Product Limits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19200"/>
            <a:ext cx="10972800" cy="5181600"/>
          </a:xfrm>
          <a:prstGeom prst="roundRect">
            <a:avLst>
              <a:gd name="adj" fmla="val 1470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390650"/>
            <a:ext cx="10648950" cy="483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F43F5E"/>
                </a:solidFill>
                <a:latin typeface="JetBrains Mono"/>
              </a:rPr>
              <a:t>CREATE VIEW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vw_overdue_portfolio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SELECT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l.loan_id, c.full_name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client_name, s.due_date, (s.principal_due + s.interest_due - s.amount_paid)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overdue_amount, CURRENT_DATE - s.due_date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days_in_arrears,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CASE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WHEN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CURRENT_DATE - s.due_date &gt; 90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THEN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'PAR 90 (NPL)'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WHEN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CURRENT_DATE - s.due_date &gt; 30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THEN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'PAR 30 (Watchlist)'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ELSE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'PAR 1-30 (Substandard)'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END 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risk_category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repayment_schedule s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JOIN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loan_account l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s.loan_id = l.loan_id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JOIN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client c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l.client_id = c.client_id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WHERE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s.due_date &lt; CURRENT_DATE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AND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s.status !=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'PAID'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SQL View: Overdue Loans &amp; PAR Calculation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19200"/>
            <a:ext cx="10972800" cy="5181600"/>
          </a:xfrm>
          <a:prstGeom prst="roundRect">
            <a:avLst>
              <a:gd name="adj" fmla="val 1470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Repayment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390650"/>
            <a:ext cx="10648950" cy="483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64748B"/>
                </a:solidFill>
                <a:latin typeface="JetBrains Mono"/>
              </a:rPr>
              <a:t>-- Payment posting trigger enforcing repayment within balance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CREATE OR REPLACE FUNCTION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process_repayment()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RETURNS TRIGGER 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$$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DECLARE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v_outstanding 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DECIMAL(12,2)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BEGIN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SELECT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outstanding_balance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INTO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v_outstanding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loan_account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WHERE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loan_id = NEW.loan_id;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IF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NEW.amount_paid &gt; v_outstanding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THEN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RAISE EXCEPTION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'Repayment amount exceeds remaining loan balance'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END IF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</a:t>
            </a:r>
            <a:r>
              <a:rPr b="0" sz="1050" i="1" u="none">
                <a:solidFill>
                  <a:srgbClr val="64748B"/>
                </a:solidFill>
                <a:latin typeface="JetBrains Mono"/>
              </a:rPr>
              <a:t>-- Deduct paid amount from loan balance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UPDATE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loan_account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SET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outstanding_balance = outstanding_balance - NEW.amount_paid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WHERE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loan_id = NEW.loan_id;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NEW;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END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; $$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LANGUAGE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plpgsql;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Repayment Processing &amp; Balance Subquery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57300"/>
            <a:ext cx="10972800" cy="5143500"/>
          </a:xfrm>
          <a:prstGeom prst="roundRect">
            <a:avLst>
              <a:gd name="adj" fmla="val 1481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Portfolio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428750"/>
            <a:ext cx="10648950" cy="480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64748B"/>
                </a:solidFill>
                <a:latin typeface="JetBrains Mono"/>
              </a:rPr>
              <a:t>-- Aggregation Query: Officer Portfolio Health &amp; Group Risk Analysis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SELECT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o.officer_id, o.officer_name, </a:t>
            </a:r>
            <a:r>
              <a:rPr b="0" sz="1050" i="0" u="none">
                <a:solidFill>
                  <a:srgbClr val="C084FC"/>
                </a:solidFill>
                <a:latin typeface="JetBrains Mono"/>
              </a:rPr>
              <a:t>COUNT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(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DISTINCT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g.group_id)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active_groups, </a:t>
            </a:r>
            <a:r>
              <a:rPr b="0" sz="1050" i="0" u="none">
                <a:solidFill>
                  <a:srgbClr val="C084FC"/>
                </a:solidFill>
                <a:latin typeface="JetBrains Mono"/>
              </a:rPr>
              <a:t>COUNT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(l.loan_id)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total_loans_issued, </a:t>
            </a:r>
            <a:r>
              <a:rPr b="0" sz="1050" i="0" u="none">
                <a:solidFill>
                  <a:srgbClr val="C084FC"/>
                </a:solidFill>
                <a:latin typeface="JetBrains Mono"/>
              </a:rPr>
              <a:t>SUM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(l.approved_amount)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gross_portfolio, </a:t>
            </a:r>
            <a:r>
              <a:rPr b="0" sz="1050" i="0" u="none">
                <a:solidFill>
                  <a:srgbClr val="C084FC"/>
                </a:solidFill>
                <a:latin typeface="JetBrains Mono"/>
              </a:rPr>
              <a:t>ROUND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(</a:t>
            </a:r>
            <a:r>
              <a:rPr b="0" sz="1050" i="0" u="none">
                <a:solidFill>
                  <a:srgbClr val="C084FC"/>
                </a:solidFill>
                <a:latin typeface="JetBrains Mono"/>
              </a:rPr>
              <a:t>AVG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(c.credit_score), 2)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avg_borrower_credit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loan_officer o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JOIN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borrower_group g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o.officer_id = g.officer_id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JOIN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client c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g.group_id = c.group_id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JOIN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loan_account l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ON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c.client_id = l.client_id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GROUP BY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o.officer_id, o.officer_name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HAVING COUNT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(l.loan_id) &gt; 5;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Group Performance &amp; Officer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95400"/>
            <a:ext cx="3505200" cy="5105400"/>
          </a:xfrm>
          <a:prstGeom prst="roundRect">
            <a:avLst>
              <a:gd name="adj" fmla="val 2173"/>
            </a:avLst>
          </a:prstGeom>
          <a:solidFill>
            <a:srgbClr val="112240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295400"/>
            <a:ext cx="3505200" cy="5105400"/>
          </a:xfrm>
          <a:prstGeom prst="roundRect">
            <a:avLst>
              <a:gd name="adj" fmla="val 2173"/>
            </a:avLst>
          </a:prstGeom>
          <a:solidFill>
            <a:srgbClr val="112240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295400"/>
            <a:ext cx="3505200" cy="5105400"/>
          </a:xfrm>
          <a:prstGeom prst="roundRect">
            <a:avLst>
              <a:gd name="adj" fmla="val 2173"/>
            </a:avLst>
          </a:prstGeom>
          <a:solidFill>
            <a:srgbClr val="112240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571625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571625"/>
            <a:ext cx="2286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157162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Financial Safeguards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Savings Balance Control &amp; Penalties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0288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Inter"/>
              </a:rPr>
              <a:t>20% Savings Lock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333625"/>
            <a:ext cx="30480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Guarantees cash collateral reserve. Client cannot withdraw below threshold while loan is active.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202882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Inter"/>
              </a:rPr>
              <a:t>Automated 2% Penalty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2333625"/>
            <a:ext cx="30480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Daily batch calculation adds 2% penalty on overdue installment amounts past 5-day grace period.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2028825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Inter"/>
              </a:rPr>
              <a:t>ACID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2333625"/>
            <a:ext cx="30480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Atomic repayment distribution prevents partial state anomalies across schedule and ledger.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57300"/>
            <a:ext cx="10972800" cy="5143500"/>
          </a:xfrm>
          <a:prstGeom prst="roundRect">
            <a:avLst>
              <a:gd name="adj" fmla="val 1481"/>
            </a:avLst>
          </a:prstGeom>
          <a:solidFill>
            <a:srgbClr val="02061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Implementation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428750"/>
            <a:ext cx="10648950" cy="480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1" u="none">
                <a:solidFill>
                  <a:srgbClr val="64748B"/>
                </a:solidFill>
                <a:latin typeface="JetBrains Mono"/>
              </a:rPr>
              <a:t>-- TEST 1: Attempt loan disburse exceeding product limit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 SQL&gt; INSERT INTO loan_account VALUES (101, 5, 1, 15000.00, '2026-03-01', '2026-03-02', 15000.00, 'APPROVED');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ERROR: Approved amount exceeds product maximum cap ($10,000.00)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 </a:t>
            </a:r>
            <a:r>
              <a:rPr b="0" sz="1050" i="1" u="none">
                <a:solidFill>
                  <a:srgbClr val="64748B"/>
                </a:solidFill>
                <a:latin typeface="JetBrains Mono"/>
              </a:rPr>
              <a:t>-- TEST 2: Attempt repayment exceeding outstanding balance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 SQL&gt; INSERT INTO repayment_transaction VALUES (901, 101, '2026-03-15', 20000.00); </a:t>
            </a:r>
            <a:r>
              <a:rPr b="1" sz="1050" i="0" u="none">
                <a:solidFill>
                  <a:srgbClr val="F43F5E"/>
                </a:solidFill>
                <a:latin typeface="JetBrains Mono"/>
              </a:rPr>
              <a:t>ERROR: Repayment amount exceeds remaining loan balance ($9,500.00)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 </a:t>
            </a:r>
            <a:r>
              <a:rPr b="0" sz="1050" i="1" u="none">
                <a:solidFill>
                  <a:srgbClr val="64748B"/>
                </a:solidFill>
                <a:latin typeface="JetBrains Mono"/>
              </a:rPr>
              <a:t>-- TEST 3: Valid repayment execution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 SQL&gt; INSERT INTO repayment_transaction VALUES (902, 101, '2026-03-15', 2500.00); </a:t>
            </a:r>
            <a:r>
              <a:rPr b="0" sz="1050" i="0" u="none">
                <a:solidFill>
                  <a:srgbClr val="34D399"/>
                </a:solidFill>
                <a:latin typeface="JetBrains Mono"/>
              </a:rPr>
              <a:t>SUCCESS: 1 row inserted. Loan 101 balance updated to $7,000.00.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Database Execution Output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81462" y="2347912"/>
            <a:ext cx="4029075" cy="552450"/>
          </a:xfrm>
          <a:prstGeom prst="roundRect">
            <a:avLst>
              <a:gd name="adj" fmla="val 50000"/>
            </a:avLst>
          </a:prstGeom>
          <a:solidFill>
            <a:srgbClr val="112240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587" y="2509837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5312" y="3167062"/>
            <a:ext cx="110013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Space Grotesk"/>
              </a:rPr>
              <a:t>Robust &amp; Scalable Microfinance DBMS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1156" y="3938587"/>
            <a:ext cx="892968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Enforces zero-data-anomaly standard up to 3NF with trigger-based financial constraints and automated risk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1962" y="2513409"/>
            <a:ext cx="4000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Inter"/>
              </a:rPr>
              <a:t>System Implementation Verified &amp;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