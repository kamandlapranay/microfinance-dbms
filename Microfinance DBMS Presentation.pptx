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0" y="2340322"/>
            <a:ext cx="312420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902297"/>
            <a:ext cx="900112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oppins"/>
              </a:rPr>
              <a:t>Microfinance Loan &amp; Repayment DBMS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231927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System Architecture, Conceptual ER Model, and Relational Database Schema Design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2440334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5357812" cy="2638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371600"/>
            <a:ext cx="5357812" cy="2638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1685925"/>
            <a:ext cx="476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825" y="2352675"/>
            <a:ext cx="496562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oppins"/>
              </a:rPr>
              <a:t>Operational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781300"/>
            <a:ext cx="472916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Microfinance Institutions (MFIs) frequently struggle with manual record keeping, high calculation error rates for interest and penalties, delayed loan disbursement tracking, and limited visibility into group repayment performance.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7012" y="1685925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77012" y="2352675"/>
            <a:ext cx="496562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oppins"/>
              </a:rPr>
              <a:t>System Design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7012" y="2781300"/>
            <a:ext cx="472916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The proposed DBMS encompasses end-to-end management: client and group registration, field officer assignments, loan product configuration, multi-tier approvals, cash/electronic disbursements, automated repayment schedules, and savings account ledgers.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181927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0362" y="1819275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Problem Identification &amp;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3524250" cy="25217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371600"/>
            <a:ext cx="3524250" cy="25217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371600"/>
            <a:ext cx="3524250" cy="25217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666875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371725"/>
            <a:ext cx="146018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Data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771775"/>
            <a:ext cx="3048000" cy="8262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Maintain ACID-compliant transaction records across client accounts, ensuring error-free balance ledgers and automated penalty execution.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66687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2371725"/>
            <a:ext cx="16902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Multi-User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71775"/>
            <a:ext cx="30480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Support Field Officers (loan collections), Credit Officers (approvals), Branch Managers (oversight), and Clients (account visibility).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4375" y="166687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34375" y="2371725"/>
            <a:ext cx="201025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Ledger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4375" y="2771775"/>
            <a:ext cx="3048000" cy="61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Eliminate manual schedule creation through algorithmic principal/interest calculations and real-time default monitoring.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180975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6300" y="1809750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0" y="180975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Objectives &amp; Key System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371600"/>
            <a:ext cx="11049000" cy="576262"/>
          </a:xfrm>
          <a:prstGeom prst="roundRect">
            <a:avLst>
              <a:gd name="adj" fmla="val 165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43050"/>
            <a:ext cx="10248900" cy="233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Client &amp; Group Onboarding: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Capture full KYC details, assign client profiles to lending groups, and link groups to specific Field Officers.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2100262"/>
            <a:ext cx="110490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71712"/>
            <a:ext cx="102489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Loan Application &amp; Approvals: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Allow multi-product loan requests, enforce credit limits, and log formal approval/rejection decisions with timestamped auditor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043237"/>
            <a:ext cx="110490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14687"/>
            <a:ext cx="102489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Disbursement &amp; Schedule Engine: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Generate amortization schedules detailing payment due dates, principal components, and interest breakdowns upon loan disbursement.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986212"/>
            <a:ext cx="11049000" cy="790575"/>
          </a:xfrm>
          <a:prstGeom prst="roundRect">
            <a:avLst>
              <a:gd name="adj" fmla="val 120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157662"/>
            <a:ext cx="102489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Repayments &amp; Savings Ledgers: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Process repayments against active schedules, auto-calculate overdue penalties, and record compulsory client savings deposits/withdrawals.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93833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288131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824287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7672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566862"/>
            <a:ext cx="23812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295525"/>
            <a:ext cx="2190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238500"/>
            <a:ext cx="1428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181475"/>
            <a:ext cx="21907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Key Functional Requirements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371600"/>
            <a:ext cx="5357812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371600"/>
            <a:ext cx="562570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oppins"/>
              </a:rPr>
              <a:t>Entity Relationship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00225"/>
            <a:ext cx="53578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The conceptual model normalizes microfinance operations into 12 core interacting entities: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212" y="1381125"/>
            <a:ext cx="5338762" cy="39814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2409825"/>
            <a:ext cx="5357812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2524125"/>
            <a:ext cx="50530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Clients &amp; Groups: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1 Group contains N Clients; Groups are managed by 1 Field Officer.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409825"/>
            <a:ext cx="38100" cy="6286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500" y="3152775"/>
            <a:ext cx="5357812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3267075"/>
            <a:ext cx="50530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Loan Pipeline: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1 Client submits N Applications for a Loan Product; Approved Applications generate 1 active Loan.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152775"/>
            <a:ext cx="38100" cy="6286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" y="3895725"/>
            <a:ext cx="5357812" cy="628650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4010025"/>
            <a:ext cx="50530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Financial Records: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1 Loan creates 1 Disbursement, N Installment Schedules, N Repayments, N Penalties, and connects to 1 Savings Account.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3895725"/>
            <a:ext cx="38100" cy="6286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Conceptual Design &amp; ER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11049000" cy="26574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381125"/>
          <a:ext cx="11029948" cy="263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99021"/>
                <a:gridCol w="1662112"/>
                <a:gridCol w="2706588"/>
                <a:gridCol w="4962227"/>
              </a:tblGrid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Key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Foreign Keys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Key Attributes &amp; Constraints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Clients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client_id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group_id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first_name, last_name, phone, national_id, kyc_status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Groups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group_id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officer_id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group_name, meeting_day, center_location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Field_Officers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officer_id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branch_id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officer_name, phone, zone_assigned, active_flag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Loan_Products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1" u="none">
                          <a:solidFill>
                            <a:srgbClr val="334155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product_name, interest_rate, min_amount, max_amount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9740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Applications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app_id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client_id, product_id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requested_amount, app_date, status (Pending/Approved)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281237"/>
            <a:ext cx="1699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0046" y="2281237"/>
            <a:ext cx="166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42159" y="2281237"/>
            <a:ext cx="2706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48747" y="2281237"/>
            <a:ext cx="49622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714625"/>
            <a:ext cx="1699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0046" y="2714625"/>
            <a:ext cx="166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42159" y="2714625"/>
            <a:ext cx="2706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48747" y="2714625"/>
            <a:ext cx="49622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148012"/>
            <a:ext cx="1699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0046" y="3148012"/>
            <a:ext cx="166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42159" y="3148012"/>
            <a:ext cx="2706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48747" y="3148012"/>
            <a:ext cx="49622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581400"/>
            <a:ext cx="16990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0046" y="3581400"/>
            <a:ext cx="16621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42159" y="3581400"/>
            <a:ext cx="2706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48747" y="3581400"/>
            <a:ext cx="49622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Core Schema: Client &amp; Loans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1600"/>
            <a:ext cx="11049000" cy="2657475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381125"/>
          <a:ext cx="11029948" cy="2638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68090"/>
                <a:gridCol w="1746944"/>
                <a:gridCol w="2475607"/>
                <a:gridCol w="4939307"/>
              </a:tblGrid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Table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Primary Key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Foreign Keys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Key Attributes &amp; Operational Logic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Loans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loan_id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app_id, officer_id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principal_amount, duration_months, start_date, loan_status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Disbursements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disb_id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loan_id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disb_amount, disb_date, channel (Cash/Bank Transfer)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Schedules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schedule_id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loan_id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due_date, principal_due, interest_due, status (Paid/Overdue)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737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Repayments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repayment_id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loan_id, schedule_id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amount_paid, payment_date, officer_id, receipt_no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9740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Savings_Accounts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account_id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client_id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current_balance, min_balance_req, account_status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281237"/>
            <a:ext cx="1868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9115" y="2281237"/>
            <a:ext cx="1746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96060" y="2281237"/>
            <a:ext cx="2475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1667" y="2281237"/>
            <a:ext cx="4939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714625"/>
            <a:ext cx="1868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49115" y="2714625"/>
            <a:ext cx="1746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6060" y="2714625"/>
            <a:ext cx="2475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1667" y="2714625"/>
            <a:ext cx="4939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148012"/>
            <a:ext cx="1868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9115" y="3148012"/>
            <a:ext cx="1746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6060" y="3148012"/>
            <a:ext cx="2475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1667" y="3148012"/>
            <a:ext cx="4939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581400"/>
            <a:ext cx="1868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49115" y="3581400"/>
            <a:ext cx="17469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6060" y="3581400"/>
            <a:ext cx="2475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1667" y="3581400"/>
            <a:ext cx="49393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Financial Schema &amp; Repayments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5" y="4038600"/>
            <a:ext cx="5124450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30516" y="2314575"/>
            <a:ext cx="7730966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2237" y="3371850"/>
            <a:ext cx="68675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Thank you for reviewing the Microfinance DBMS Architecture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1447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66875" y="1521618"/>
            <a:ext cx="5000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https://corporate-assets.lucid.co/co/00e08abe-7240-4d64-84cc-802dc961078e.svg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754981"/>
            <a:ext cx="500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lucid.co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